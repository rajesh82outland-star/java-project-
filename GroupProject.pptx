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70" r:id="rId13"/>
    <p:sldId id="272" r:id="rId14"/>
    <p:sldId id="271" r:id="rId15"/>
    <p:sldId id="269" r:id="rId16"/>
    <p:sldId id="268" r:id="rId17"/>
  </p:sldIdLst>
  <p:sldSz cx="12192000" cy="6858000"/>
  <p:notesSz cx="6858000" cy="9144000"/>
  <p:defaultText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859"/>
    <p:restoredTop sz="94658"/>
  </p:normalViewPr>
  <p:slideViewPr>
    <p:cSldViewPr snapToGrid="0">
      <p:cViewPr varScale="1">
        <p:scale>
          <a:sx n="120" d="100"/>
          <a:sy n="120" d="100"/>
        </p:scale>
        <p:origin x="848"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9ABE43-0353-9346-A6C9-A0E3D02A0AFA}" type="datetimeFigureOut">
              <a:rPr lang="en-US" smtClean="0"/>
              <a:t>6/15/25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2A27B7-4A1F-D745-9F79-2EEAA857D283}" type="slidenum">
              <a:rPr lang="en-US" smtClean="0"/>
              <a:t>‹#›</a:t>
            </a:fld>
            <a:endParaRPr lang="en-US"/>
          </a:p>
        </p:txBody>
      </p:sp>
    </p:spTree>
    <p:extLst>
      <p:ext uri="{BB962C8B-B14F-4D97-AF65-F5344CB8AC3E}">
        <p14:creationId xmlns:p14="http://schemas.microsoft.com/office/powerpoint/2010/main" val="26378206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E2A27B7-4A1F-D745-9F79-2EEAA857D283}" type="slidenum">
              <a:rPr lang="en-US" smtClean="0"/>
              <a:t>1</a:t>
            </a:fld>
            <a:endParaRPr lang="en-US"/>
          </a:p>
        </p:txBody>
      </p:sp>
    </p:spTree>
    <p:extLst>
      <p:ext uri="{BB962C8B-B14F-4D97-AF65-F5344CB8AC3E}">
        <p14:creationId xmlns:p14="http://schemas.microsoft.com/office/powerpoint/2010/main" val="6371602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B12BD2-CED1-3135-8C1E-282F7C5CBC2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P"/>
          </a:p>
        </p:txBody>
      </p:sp>
      <p:sp>
        <p:nvSpPr>
          <p:cNvPr id="3" name="Subtitle 2">
            <a:extLst>
              <a:ext uri="{FF2B5EF4-FFF2-40B4-BE49-F238E27FC236}">
                <a16:creationId xmlns:a16="http://schemas.microsoft.com/office/drawing/2014/main" id="{7080FA6B-81A3-B3A6-8B93-822506D090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P"/>
          </a:p>
        </p:txBody>
      </p:sp>
      <p:sp>
        <p:nvSpPr>
          <p:cNvPr id="4" name="Date Placeholder 3">
            <a:extLst>
              <a:ext uri="{FF2B5EF4-FFF2-40B4-BE49-F238E27FC236}">
                <a16:creationId xmlns:a16="http://schemas.microsoft.com/office/drawing/2014/main" id="{ACC99006-0743-2C33-4B56-147651047021}"/>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BF8ED26D-3E48-6E52-193F-D40348CA2E8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F758081F-90DD-264F-8086-36385C50C6E5}"/>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36548523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45EAD-D56F-D149-298C-5FA60AF3321B}"/>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D5C5A441-39C0-9781-6028-C0F6845C65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C3901C51-3124-86A5-2D73-EA8C7BD41BCD}"/>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FCA71AD2-9D47-A2B6-95C6-822843116B2A}"/>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75AAD8E1-EE23-E76E-76A1-98D1EF07C396}"/>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1645902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7EE5-3B5C-2E44-7230-18BFA7B7988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P"/>
          </a:p>
        </p:txBody>
      </p:sp>
      <p:sp>
        <p:nvSpPr>
          <p:cNvPr id="3" name="Text Placeholder 2">
            <a:extLst>
              <a:ext uri="{FF2B5EF4-FFF2-40B4-BE49-F238E27FC236}">
                <a16:creationId xmlns:a16="http://schemas.microsoft.com/office/drawing/2014/main" id="{7C157A64-E18E-8A30-4900-A860984C51C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A2C62A-C01C-A51B-ECFC-19D40ED1B007}"/>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AC4EF1B2-AAB3-3A41-00B1-A2A0A30540CB}"/>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67521C69-1425-0B4C-5507-A9018824A089}"/>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33684166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F94B4A-D021-D92F-000C-42F1041F71B8}"/>
              </a:ext>
            </a:extLst>
          </p:cNvPr>
          <p:cNvSpPr>
            <a:spLocks noGrp="1"/>
          </p:cNvSpPr>
          <p:nvPr>
            <p:ph type="title"/>
          </p:nvPr>
        </p:nvSpPr>
        <p:spPr/>
        <p:txBody>
          <a:bodyPr/>
          <a:lstStyle/>
          <a:p>
            <a:r>
              <a:rPr lang="en-US"/>
              <a:t>Click to edit Master title style</a:t>
            </a:r>
            <a:endParaRPr lang="en-NP"/>
          </a:p>
        </p:txBody>
      </p:sp>
      <p:sp>
        <p:nvSpPr>
          <p:cNvPr id="3" name="Content Placeholder 2">
            <a:extLst>
              <a:ext uri="{FF2B5EF4-FFF2-40B4-BE49-F238E27FC236}">
                <a16:creationId xmlns:a16="http://schemas.microsoft.com/office/drawing/2014/main" id="{7D8E057E-7776-E3F3-6013-6B7F657A54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Content Placeholder 3">
            <a:extLst>
              <a:ext uri="{FF2B5EF4-FFF2-40B4-BE49-F238E27FC236}">
                <a16:creationId xmlns:a16="http://schemas.microsoft.com/office/drawing/2014/main" id="{3962A6E4-707D-941B-9ADB-43F7BDAE373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Date Placeholder 4">
            <a:extLst>
              <a:ext uri="{FF2B5EF4-FFF2-40B4-BE49-F238E27FC236}">
                <a16:creationId xmlns:a16="http://schemas.microsoft.com/office/drawing/2014/main" id="{ACEFEAFA-947B-4F38-9F05-84DD9C0715A8}"/>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6" name="Footer Placeholder 5">
            <a:extLst>
              <a:ext uri="{FF2B5EF4-FFF2-40B4-BE49-F238E27FC236}">
                <a16:creationId xmlns:a16="http://schemas.microsoft.com/office/drawing/2014/main" id="{332220EF-CD95-A747-4B74-C5ABA2FA821B}"/>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F8B14FAC-8F7B-5062-BBD7-230D4500FF86}"/>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2330307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124F1-0665-A298-2289-0C2D5BA9272A}"/>
              </a:ext>
            </a:extLst>
          </p:cNvPr>
          <p:cNvSpPr>
            <a:spLocks noGrp="1"/>
          </p:cNvSpPr>
          <p:nvPr>
            <p:ph type="title"/>
          </p:nvPr>
        </p:nvSpPr>
        <p:spPr>
          <a:xfrm>
            <a:off x="839788" y="365125"/>
            <a:ext cx="10515600" cy="1325563"/>
          </a:xfrm>
        </p:spPr>
        <p:txBody>
          <a:bodyPr/>
          <a:lstStyle/>
          <a:p>
            <a:r>
              <a:rPr lang="en-US"/>
              <a:t>Click to edit Master title style</a:t>
            </a:r>
            <a:endParaRPr lang="en-NP"/>
          </a:p>
        </p:txBody>
      </p:sp>
      <p:sp>
        <p:nvSpPr>
          <p:cNvPr id="3" name="Text Placeholder 2">
            <a:extLst>
              <a:ext uri="{FF2B5EF4-FFF2-40B4-BE49-F238E27FC236}">
                <a16:creationId xmlns:a16="http://schemas.microsoft.com/office/drawing/2014/main" id="{A804006D-DC91-52EB-DF56-B874530690A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4DDD567-4D4C-3A51-FB7A-D41603C3D60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5" name="Text Placeholder 4">
            <a:extLst>
              <a:ext uri="{FF2B5EF4-FFF2-40B4-BE49-F238E27FC236}">
                <a16:creationId xmlns:a16="http://schemas.microsoft.com/office/drawing/2014/main" id="{2A653A0A-DA2A-8B16-2CC7-C9AA43479DA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5E893C0-3DC1-C1C1-65EA-B5051158E4E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7" name="Date Placeholder 6">
            <a:extLst>
              <a:ext uri="{FF2B5EF4-FFF2-40B4-BE49-F238E27FC236}">
                <a16:creationId xmlns:a16="http://schemas.microsoft.com/office/drawing/2014/main" id="{6B2850F5-3CE0-F895-0160-9874309EB9DA}"/>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8" name="Footer Placeholder 7">
            <a:extLst>
              <a:ext uri="{FF2B5EF4-FFF2-40B4-BE49-F238E27FC236}">
                <a16:creationId xmlns:a16="http://schemas.microsoft.com/office/drawing/2014/main" id="{83973FB3-57CB-11B8-5837-ED98AEB06C6A}"/>
              </a:ext>
            </a:extLst>
          </p:cNvPr>
          <p:cNvSpPr>
            <a:spLocks noGrp="1"/>
          </p:cNvSpPr>
          <p:nvPr>
            <p:ph type="ftr" sz="quarter" idx="11"/>
          </p:nvPr>
        </p:nvSpPr>
        <p:spPr/>
        <p:txBody>
          <a:bodyPr/>
          <a:lstStyle/>
          <a:p>
            <a:endParaRPr lang="en-NP"/>
          </a:p>
        </p:txBody>
      </p:sp>
      <p:sp>
        <p:nvSpPr>
          <p:cNvPr id="9" name="Slide Number Placeholder 8">
            <a:extLst>
              <a:ext uri="{FF2B5EF4-FFF2-40B4-BE49-F238E27FC236}">
                <a16:creationId xmlns:a16="http://schemas.microsoft.com/office/drawing/2014/main" id="{67DC3633-39A8-3DF5-4C51-08499234694B}"/>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7478166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9F39AC-636C-DEF8-E160-06C9B769DC88}"/>
              </a:ext>
            </a:extLst>
          </p:cNvPr>
          <p:cNvSpPr>
            <a:spLocks noGrp="1"/>
          </p:cNvSpPr>
          <p:nvPr>
            <p:ph type="title"/>
          </p:nvPr>
        </p:nvSpPr>
        <p:spPr/>
        <p:txBody>
          <a:bodyPr/>
          <a:lstStyle/>
          <a:p>
            <a:r>
              <a:rPr lang="en-US"/>
              <a:t>Click to edit Master title style</a:t>
            </a:r>
            <a:endParaRPr lang="en-NP"/>
          </a:p>
        </p:txBody>
      </p:sp>
      <p:sp>
        <p:nvSpPr>
          <p:cNvPr id="3" name="Date Placeholder 2">
            <a:extLst>
              <a:ext uri="{FF2B5EF4-FFF2-40B4-BE49-F238E27FC236}">
                <a16:creationId xmlns:a16="http://schemas.microsoft.com/office/drawing/2014/main" id="{9E81882F-2B76-BACF-383E-C22E12E5DEF0}"/>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4" name="Footer Placeholder 3">
            <a:extLst>
              <a:ext uri="{FF2B5EF4-FFF2-40B4-BE49-F238E27FC236}">
                <a16:creationId xmlns:a16="http://schemas.microsoft.com/office/drawing/2014/main" id="{D171F9FA-E158-E70E-8A92-70C9B6BD312C}"/>
              </a:ext>
            </a:extLst>
          </p:cNvPr>
          <p:cNvSpPr>
            <a:spLocks noGrp="1"/>
          </p:cNvSpPr>
          <p:nvPr>
            <p:ph type="ftr" sz="quarter" idx="11"/>
          </p:nvPr>
        </p:nvSpPr>
        <p:spPr/>
        <p:txBody>
          <a:bodyPr/>
          <a:lstStyle/>
          <a:p>
            <a:endParaRPr lang="en-NP"/>
          </a:p>
        </p:txBody>
      </p:sp>
      <p:sp>
        <p:nvSpPr>
          <p:cNvPr id="5" name="Slide Number Placeholder 4">
            <a:extLst>
              <a:ext uri="{FF2B5EF4-FFF2-40B4-BE49-F238E27FC236}">
                <a16:creationId xmlns:a16="http://schemas.microsoft.com/office/drawing/2014/main" id="{36AA4C3B-50A9-22F1-04F3-98783B0889AC}"/>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73154066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A3C5FCF-C21A-B230-03AA-26B7194E0B19}"/>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3" name="Footer Placeholder 2">
            <a:extLst>
              <a:ext uri="{FF2B5EF4-FFF2-40B4-BE49-F238E27FC236}">
                <a16:creationId xmlns:a16="http://schemas.microsoft.com/office/drawing/2014/main" id="{AE0699C3-D16C-8CAF-6643-62EAFFCD7B5A}"/>
              </a:ext>
            </a:extLst>
          </p:cNvPr>
          <p:cNvSpPr>
            <a:spLocks noGrp="1"/>
          </p:cNvSpPr>
          <p:nvPr>
            <p:ph type="ftr" sz="quarter" idx="11"/>
          </p:nvPr>
        </p:nvSpPr>
        <p:spPr/>
        <p:txBody>
          <a:bodyPr/>
          <a:lstStyle/>
          <a:p>
            <a:endParaRPr lang="en-NP"/>
          </a:p>
        </p:txBody>
      </p:sp>
      <p:sp>
        <p:nvSpPr>
          <p:cNvPr id="4" name="Slide Number Placeholder 3">
            <a:extLst>
              <a:ext uri="{FF2B5EF4-FFF2-40B4-BE49-F238E27FC236}">
                <a16:creationId xmlns:a16="http://schemas.microsoft.com/office/drawing/2014/main" id="{A9266ABF-FA06-C7A9-AD02-1281461F2999}"/>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15392395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24984-ABA2-ED10-8151-CE85DDA1D3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Content Placeholder 2">
            <a:extLst>
              <a:ext uri="{FF2B5EF4-FFF2-40B4-BE49-F238E27FC236}">
                <a16:creationId xmlns:a16="http://schemas.microsoft.com/office/drawing/2014/main" id="{63E137A1-9203-1E4B-F0E3-6C3EDFFBD21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Text Placeholder 3">
            <a:extLst>
              <a:ext uri="{FF2B5EF4-FFF2-40B4-BE49-F238E27FC236}">
                <a16:creationId xmlns:a16="http://schemas.microsoft.com/office/drawing/2014/main" id="{FDF9B0C6-35C6-80FE-15CB-BE04378A575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6EA5DD5-E0BC-06B2-D04B-A6ED7B7E7D2E}"/>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6" name="Footer Placeholder 5">
            <a:extLst>
              <a:ext uri="{FF2B5EF4-FFF2-40B4-BE49-F238E27FC236}">
                <a16:creationId xmlns:a16="http://schemas.microsoft.com/office/drawing/2014/main" id="{C525E91A-9D67-B55E-AD15-19C6A9F1EC1B}"/>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F9A00BF8-16DB-7803-29F9-4F20973C82C5}"/>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4001623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B8B0F-0777-BF2C-92CA-2B1B974B43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P"/>
          </a:p>
        </p:txBody>
      </p:sp>
      <p:sp>
        <p:nvSpPr>
          <p:cNvPr id="3" name="Picture Placeholder 2">
            <a:extLst>
              <a:ext uri="{FF2B5EF4-FFF2-40B4-BE49-F238E27FC236}">
                <a16:creationId xmlns:a16="http://schemas.microsoft.com/office/drawing/2014/main" id="{5A834AFB-A145-2591-20D9-1C86DFF0992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P"/>
          </a:p>
        </p:txBody>
      </p:sp>
      <p:sp>
        <p:nvSpPr>
          <p:cNvPr id="4" name="Text Placeholder 3">
            <a:extLst>
              <a:ext uri="{FF2B5EF4-FFF2-40B4-BE49-F238E27FC236}">
                <a16:creationId xmlns:a16="http://schemas.microsoft.com/office/drawing/2014/main" id="{9E442711-DCBC-A644-652E-534DB5F23E6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6C80F-1D7F-BC29-BDF2-92DA0C15BBFD}"/>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6" name="Footer Placeholder 5">
            <a:extLst>
              <a:ext uri="{FF2B5EF4-FFF2-40B4-BE49-F238E27FC236}">
                <a16:creationId xmlns:a16="http://schemas.microsoft.com/office/drawing/2014/main" id="{B2FDC03C-9A2B-47AD-653C-DC8844C4E249}"/>
              </a:ext>
            </a:extLst>
          </p:cNvPr>
          <p:cNvSpPr>
            <a:spLocks noGrp="1"/>
          </p:cNvSpPr>
          <p:nvPr>
            <p:ph type="ftr" sz="quarter" idx="11"/>
          </p:nvPr>
        </p:nvSpPr>
        <p:spPr/>
        <p:txBody>
          <a:bodyPr/>
          <a:lstStyle/>
          <a:p>
            <a:endParaRPr lang="en-NP"/>
          </a:p>
        </p:txBody>
      </p:sp>
      <p:sp>
        <p:nvSpPr>
          <p:cNvPr id="7" name="Slide Number Placeholder 6">
            <a:extLst>
              <a:ext uri="{FF2B5EF4-FFF2-40B4-BE49-F238E27FC236}">
                <a16:creationId xmlns:a16="http://schemas.microsoft.com/office/drawing/2014/main" id="{6016C209-E6BA-28AB-50F6-FCE7D16B16DF}"/>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25958581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DD50FD-5AA7-89AC-9E57-D390CB0EA90E}"/>
              </a:ext>
            </a:extLst>
          </p:cNvPr>
          <p:cNvSpPr>
            <a:spLocks noGrp="1"/>
          </p:cNvSpPr>
          <p:nvPr>
            <p:ph type="title"/>
          </p:nvPr>
        </p:nvSpPr>
        <p:spPr/>
        <p:txBody>
          <a:bodyPr/>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2823F55F-5CF6-75DF-6312-E4C0524D99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7341B6FA-3B4D-27F9-2EF2-D0680534F7B4}"/>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2FDBD911-CE29-F4BB-7036-743F52E629C4}"/>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DB4F1E8C-A0CF-CB3E-DC27-9105B659FF36}"/>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4239864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4303FB2-6933-5B5A-581C-F599BADA513B}"/>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P"/>
          </a:p>
        </p:txBody>
      </p:sp>
      <p:sp>
        <p:nvSpPr>
          <p:cNvPr id="3" name="Vertical Text Placeholder 2">
            <a:extLst>
              <a:ext uri="{FF2B5EF4-FFF2-40B4-BE49-F238E27FC236}">
                <a16:creationId xmlns:a16="http://schemas.microsoft.com/office/drawing/2014/main" id="{7042533A-EF1B-189F-8FF5-53FF5F0F696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D08D2CAF-5A30-BEFC-84C0-ED14469D9682}"/>
              </a:ext>
            </a:extLst>
          </p:cNvPr>
          <p:cNvSpPr>
            <a:spLocks noGrp="1"/>
          </p:cNvSpPr>
          <p:nvPr>
            <p:ph type="dt" sz="half" idx="10"/>
          </p:nvPr>
        </p:nvSpPr>
        <p:spPr/>
        <p:txBody>
          <a:body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A500B050-B03C-05B1-6910-6F9CEDB164E5}"/>
              </a:ext>
            </a:extLst>
          </p:cNvPr>
          <p:cNvSpPr>
            <a:spLocks noGrp="1"/>
          </p:cNvSpPr>
          <p:nvPr>
            <p:ph type="ftr" sz="quarter" idx="11"/>
          </p:nvPr>
        </p:nvSpPr>
        <p:spPr/>
        <p:txBody>
          <a:bodyPr/>
          <a:lstStyle/>
          <a:p>
            <a:endParaRPr lang="en-NP"/>
          </a:p>
        </p:txBody>
      </p:sp>
      <p:sp>
        <p:nvSpPr>
          <p:cNvPr id="6" name="Slide Number Placeholder 5">
            <a:extLst>
              <a:ext uri="{FF2B5EF4-FFF2-40B4-BE49-F238E27FC236}">
                <a16:creationId xmlns:a16="http://schemas.microsoft.com/office/drawing/2014/main" id="{C1E7CEAF-910D-7B5D-738C-637A9B4E5169}"/>
              </a:ext>
            </a:extLst>
          </p:cNvPr>
          <p:cNvSpPr>
            <a:spLocks noGrp="1"/>
          </p:cNvSpPr>
          <p:nvPr>
            <p:ph type="sldNum" sz="quarter" idx="12"/>
          </p:nvPr>
        </p:nvSpPr>
        <p:spPr/>
        <p:txBody>
          <a:bodyPr/>
          <a:lstStyle/>
          <a:p>
            <a:fld id="{CA342646-F451-6447-ABFF-251AA132BF43}" type="slidenum">
              <a:rPr lang="en-NP" smtClean="0"/>
              <a:t>‹#›</a:t>
            </a:fld>
            <a:endParaRPr lang="en-NP"/>
          </a:p>
        </p:txBody>
      </p:sp>
    </p:spTree>
    <p:extLst>
      <p:ext uri="{BB962C8B-B14F-4D97-AF65-F5344CB8AC3E}">
        <p14:creationId xmlns:p14="http://schemas.microsoft.com/office/powerpoint/2010/main" val="27347539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7AEF6EB-84EE-1CCB-2DDF-098A5BEE6A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P"/>
          </a:p>
        </p:txBody>
      </p:sp>
      <p:sp>
        <p:nvSpPr>
          <p:cNvPr id="3" name="Text Placeholder 2">
            <a:extLst>
              <a:ext uri="{FF2B5EF4-FFF2-40B4-BE49-F238E27FC236}">
                <a16:creationId xmlns:a16="http://schemas.microsoft.com/office/drawing/2014/main" id="{062F2285-D95E-861F-09F2-79848CDF96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P"/>
          </a:p>
        </p:txBody>
      </p:sp>
      <p:sp>
        <p:nvSpPr>
          <p:cNvPr id="4" name="Date Placeholder 3">
            <a:extLst>
              <a:ext uri="{FF2B5EF4-FFF2-40B4-BE49-F238E27FC236}">
                <a16:creationId xmlns:a16="http://schemas.microsoft.com/office/drawing/2014/main" id="{F79E564C-73AB-7BFE-8B54-197F93882CB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DEA8D5-25D6-2144-B209-5B2E045975A6}" type="datetimeFigureOut">
              <a:rPr lang="en-NP" smtClean="0"/>
              <a:t>6/15/25</a:t>
            </a:fld>
            <a:endParaRPr lang="en-NP"/>
          </a:p>
        </p:txBody>
      </p:sp>
      <p:sp>
        <p:nvSpPr>
          <p:cNvPr id="5" name="Footer Placeholder 4">
            <a:extLst>
              <a:ext uri="{FF2B5EF4-FFF2-40B4-BE49-F238E27FC236}">
                <a16:creationId xmlns:a16="http://schemas.microsoft.com/office/drawing/2014/main" id="{B92AF667-ECEC-075B-18ED-5681B2583E2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P"/>
          </a:p>
        </p:txBody>
      </p:sp>
      <p:sp>
        <p:nvSpPr>
          <p:cNvPr id="6" name="Slide Number Placeholder 5">
            <a:extLst>
              <a:ext uri="{FF2B5EF4-FFF2-40B4-BE49-F238E27FC236}">
                <a16:creationId xmlns:a16="http://schemas.microsoft.com/office/drawing/2014/main" id="{E2428FFB-B0DC-1F61-DB88-B3483AB74F9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342646-F451-6447-ABFF-251AA132BF43}" type="slidenum">
              <a:rPr lang="en-NP" smtClean="0"/>
              <a:t>‹#›</a:t>
            </a:fld>
            <a:endParaRPr lang="en-NP"/>
          </a:p>
        </p:txBody>
      </p:sp>
    </p:spTree>
    <p:extLst>
      <p:ext uri="{BB962C8B-B14F-4D97-AF65-F5344CB8AC3E}">
        <p14:creationId xmlns:p14="http://schemas.microsoft.com/office/powerpoint/2010/main" val="9447376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P"/>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6F72D-64A5-57B1-73AA-5B15E1127766}"/>
              </a:ext>
            </a:extLst>
          </p:cNvPr>
          <p:cNvSpPr>
            <a:spLocks noGrp="1"/>
          </p:cNvSpPr>
          <p:nvPr>
            <p:ph type="ctrTitle"/>
          </p:nvPr>
        </p:nvSpPr>
        <p:spPr>
          <a:xfrm>
            <a:off x="1531088" y="754913"/>
            <a:ext cx="9136912" cy="4502888"/>
          </a:xfrm>
        </p:spPr>
        <p:txBody>
          <a:bodyPr>
            <a:normAutofit fontScale="90000"/>
          </a:bodyPr>
          <a:lstStyle/>
          <a:p>
            <a:r>
              <a:rPr lang="en-US" sz="2800" dirty="0"/>
              <a:t>Bay Atlantic University</a:t>
            </a:r>
            <a:br>
              <a:rPr lang="en-US" sz="2800" dirty="0"/>
            </a:br>
            <a:r>
              <a:rPr lang="en-US" sz="2800" dirty="0"/>
              <a:t>Computer Network &amp; Mobile Communication CMPS 524</a:t>
            </a:r>
            <a:br>
              <a:rPr lang="en-US" sz="2800" dirty="0"/>
            </a:br>
            <a:r>
              <a:rPr lang="en-US" sz="2800" dirty="0"/>
              <a:t>Group Project - Cisco Packet Tracer</a:t>
            </a:r>
            <a:br>
              <a:rPr lang="en-US" sz="2800" dirty="0"/>
            </a:br>
            <a:r>
              <a:rPr lang="en-US" sz="2800" dirty="0"/>
              <a:t> 6/13/2025</a:t>
            </a:r>
            <a:br>
              <a:rPr lang="en-US" sz="2800" dirty="0"/>
            </a:br>
            <a:br>
              <a:rPr lang="en-US" sz="2800" dirty="0"/>
            </a:br>
            <a:r>
              <a:rPr lang="en-US" sz="2800" u="sng" dirty="0"/>
              <a:t>Group Members</a:t>
            </a:r>
            <a:br>
              <a:rPr lang="en-US" sz="2800" u="sng" dirty="0"/>
            </a:br>
            <a:r>
              <a:rPr lang="en-US" sz="2800" dirty="0"/>
              <a:t>Gaurav Pandey</a:t>
            </a:r>
            <a:br>
              <a:rPr lang="en-US" sz="2800" dirty="0"/>
            </a:br>
            <a:r>
              <a:rPr lang="en-US" sz="2800" dirty="0"/>
              <a:t>Rajesh Singh</a:t>
            </a:r>
            <a:br>
              <a:rPr lang="en-US" sz="2800"/>
            </a:br>
            <a:r>
              <a:rPr lang="en-US" sz="2800"/>
              <a:t>Abubakarr Kargbo</a:t>
            </a:r>
            <a:br>
              <a:rPr lang="en-US" sz="2800" dirty="0"/>
            </a:br>
            <a:r>
              <a:rPr lang="en-US" sz="2800" dirty="0"/>
              <a:t>Brayan Parra Maca</a:t>
            </a:r>
            <a:br>
              <a:rPr lang="en-US" sz="2800" dirty="0"/>
            </a:br>
            <a:r>
              <a:rPr lang="en-US" sz="2800" dirty="0"/>
              <a:t>Prince Adjei</a:t>
            </a:r>
            <a:br>
              <a:rPr lang="en-US" sz="2800" dirty="0"/>
            </a:br>
            <a:r>
              <a:rPr lang="en-US" sz="2800" dirty="0" err="1"/>
              <a:t>Prabhjyot</a:t>
            </a:r>
            <a:r>
              <a:rPr lang="en-US" sz="2800" dirty="0"/>
              <a:t> Kaur</a:t>
            </a:r>
            <a:br>
              <a:rPr lang="en-NP" sz="2800"/>
            </a:br>
            <a:endParaRPr lang="en-NP" sz="2800" dirty="0"/>
          </a:p>
        </p:txBody>
      </p:sp>
    </p:spTree>
    <p:extLst>
      <p:ext uri="{BB962C8B-B14F-4D97-AF65-F5344CB8AC3E}">
        <p14:creationId xmlns:p14="http://schemas.microsoft.com/office/powerpoint/2010/main" val="1685551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8BBE06-3284-C4AD-6809-F36579CAD027}"/>
              </a:ext>
            </a:extLst>
          </p:cNvPr>
          <p:cNvSpPr>
            <a:spLocks noGrp="1"/>
          </p:cNvSpPr>
          <p:nvPr>
            <p:ph type="title"/>
          </p:nvPr>
        </p:nvSpPr>
        <p:spPr/>
        <p:txBody>
          <a:bodyPr/>
          <a:lstStyle/>
          <a:p>
            <a:r>
              <a:rPr lang="en-NP" dirty="0"/>
              <a:t>Introduction</a:t>
            </a:r>
          </a:p>
        </p:txBody>
      </p:sp>
      <p:sp>
        <p:nvSpPr>
          <p:cNvPr id="3" name="Content Placeholder 2">
            <a:extLst>
              <a:ext uri="{FF2B5EF4-FFF2-40B4-BE49-F238E27FC236}">
                <a16:creationId xmlns:a16="http://schemas.microsoft.com/office/drawing/2014/main" id="{6A18B496-27A4-E0CC-6F02-63CEF1EA6A8F}"/>
              </a:ext>
            </a:extLst>
          </p:cNvPr>
          <p:cNvSpPr>
            <a:spLocks noGrp="1"/>
          </p:cNvSpPr>
          <p:nvPr>
            <p:ph idx="1"/>
          </p:nvPr>
        </p:nvSpPr>
        <p:spPr>
          <a:xfrm>
            <a:off x="735459" y="1548223"/>
            <a:ext cx="10515600" cy="4351338"/>
          </a:xfrm>
        </p:spPr>
        <p:txBody>
          <a:bodyPr/>
          <a:lstStyle/>
          <a:p>
            <a:r>
              <a:rPr lang="en-US" dirty="0">
                <a:latin typeface="Times New Roman" panose="02020603050405020304" pitchFamily="18" charset="0"/>
                <a:cs typeface="Times New Roman" panose="02020603050405020304" pitchFamily="18" charset="0"/>
              </a:rPr>
              <a:t>Cisco Packet Tracer is a powerful and user-friendly network simulation tool created by Cisco Systems. It’s designed to virtually design, build, and test computer networks just like in the real world.</a:t>
            </a:r>
          </a:p>
          <a:p>
            <a:r>
              <a:rPr lang="en-US" dirty="0"/>
              <a:t>The tool mimics the behavior of real Cisco hardware like routers, switches, firewalls, and PCs, making it a go-to platform for anyone learning networking or cybersecurity.</a:t>
            </a:r>
            <a:endParaRPr lang="en-US" dirty="0">
              <a:latin typeface="Times New Roman" panose="02020603050405020304" pitchFamily="18" charset="0"/>
              <a:cs typeface="Times New Roman" panose="02020603050405020304" pitchFamily="18" charset="0"/>
            </a:endParaRPr>
          </a:p>
          <a:p>
            <a:r>
              <a:rPr lang="en-US" dirty="0"/>
              <a:t>With its drag-and-drop interface, users can easily create network topologies, assign IP addresses, and configure settings such as routing protocols, VLANs, and access control lists (ACLs).</a:t>
            </a:r>
            <a:r>
              <a:rPr lang="en-US" dirty="0">
                <a:latin typeface="Times New Roman" panose="02020603050405020304" pitchFamily="18" charset="0"/>
                <a:cs typeface="Times New Roman" panose="02020603050405020304" pitchFamily="18" charset="0"/>
              </a:rPr>
              <a:t> </a:t>
            </a:r>
          </a:p>
          <a:p>
            <a:endParaRPr lang="en-NP"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818808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746DE-F19F-6AE6-A45B-EACE7D0029FF}"/>
              </a:ext>
            </a:extLst>
          </p:cNvPr>
          <p:cNvSpPr>
            <a:spLocks noGrp="1"/>
          </p:cNvSpPr>
          <p:nvPr>
            <p:ph type="title"/>
          </p:nvPr>
        </p:nvSpPr>
        <p:spPr/>
        <p:txBody>
          <a:bodyPr/>
          <a:lstStyle/>
          <a:p>
            <a:endParaRPr lang="en-NP"/>
          </a:p>
        </p:txBody>
      </p:sp>
      <p:sp>
        <p:nvSpPr>
          <p:cNvPr id="3" name="Content Placeholder 2">
            <a:extLst>
              <a:ext uri="{FF2B5EF4-FFF2-40B4-BE49-F238E27FC236}">
                <a16:creationId xmlns:a16="http://schemas.microsoft.com/office/drawing/2014/main" id="{588599B9-E2B9-D1E2-0F58-B09F698A22F6}"/>
              </a:ext>
            </a:extLst>
          </p:cNvPr>
          <p:cNvSpPr>
            <a:spLocks noGrp="1"/>
          </p:cNvSpPr>
          <p:nvPr>
            <p:ph idx="1"/>
          </p:nvPr>
        </p:nvSpPr>
        <p:spPr>
          <a:xfrm>
            <a:off x="838200" y="1934482"/>
            <a:ext cx="10515600" cy="4351338"/>
          </a:xfrm>
        </p:spPr>
        <p:txBody>
          <a:bodyPr/>
          <a:lstStyle/>
          <a:p>
            <a:r>
              <a:rPr lang="en-US" dirty="0">
                <a:latin typeface="Times New Roman" panose="02020603050405020304" pitchFamily="18" charset="0"/>
                <a:cs typeface="Times New Roman" panose="02020603050405020304" pitchFamily="18" charset="0"/>
              </a:rPr>
              <a:t>One of its greatest strengths is that it offers both a logical view (how devices communicate) and a physical view (where devices are placed)</a:t>
            </a:r>
            <a:endParaRPr lang="en-NP"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618201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1B4E34-7F7E-179E-5EA4-A032662D38A8}"/>
              </a:ext>
            </a:extLst>
          </p:cNvPr>
          <p:cNvSpPr>
            <a:spLocks noGrp="1"/>
          </p:cNvSpPr>
          <p:nvPr>
            <p:ph type="title"/>
          </p:nvPr>
        </p:nvSpPr>
        <p:spPr/>
        <p:txBody>
          <a:bodyPr/>
          <a:lstStyle/>
          <a:p>
            <a:r>
              <a:rPr lang="en-US" dirty="0"/>
              <a:t>P</a:t>
            </a:r>
            <a:r>
              <a:rPr lang="en-NP" dirty="0"/>
              <a:t>hyscial view</a:t>
            </a:r>
          </a:p>
        </p:txBody>
      </p:sp>
      <p:sp>
        <p:nvSpPr>
          <p:cNvPr id="3" name="Content Placeholder 2">
            <a:extLst>
              <a:ext uri="{FF2B5EF4-FFF2-40B4-BE49-F238E27FC236}">
                <a16:creationId xmlns:a16="http://schemas.microsoft.com/office/drawing/2014/main" id="{F83A1BB3-1F08-4FAD-1F9A-6DAE17A96D1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physical view is more like a bird’s-eye view of a real city.</a:t>
            </a:r>
          </a:p>
          <a:p>
            <a:r>
              <a:rPr lang="en-US" dirty="0">
                <a:latin typeface="Times New Roman" panose="02020603050405020304" pitchFamily="18" charset="0"/>
                <a:cs typeface="Times New Roman" panose="02020603050405020304" pitchFamily="18" charset="0"/>
              </a:rPr>
              <a:t> It shows the actual locations like which devices are in the server room, which are on the third floor, and which are in another building across the street. </a:t>
            </a:r>
          </a:p>
          <a:p>
            <a:r>
              <a:rPr lang="en-US" dirty="0">
                <a:latin typeface="Times New Roman" panose="02020603050405020304" pitchFamily="18" charset="0"/>
                <a:cs typeface="Times New Roman" panose="02020603050405020304" pitchFamily="18" charset="0"/>
              </a:rPr>
              <a:t>In Packet Tracer, you can see a model of offices, racks, or even cities to understand where devices are physically located.</a:t>
            </a:r>
          </a:p>
          <a:p>
            <a:r>
              <a:rPr lang="en-US" dirty="0">
                <a:latin typeface="Times New Roman" panose="02020603050405020304" pitchFamily="18" charset="0"/>
                <a:cs typeface="Times New Roman" panose="02020603050405020304" pitchFamily="18" charset="0"/>
              </a:rPr>
              <a:t>In a university campus, routers may be in the IT building, switches in every classroom building, and servers in the data center. The physical view helps visualize where these devices are placed in real life, not just how they connect</a:t>
            </a:r>
            <a:endParaRPr lang="en-NP"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21351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CF25BA-EBB7-A3DB-BAFC-989D03076418}"/>
              </a:ext>
            </a:extLst>
          </p:cNvPr>
          <p:cNvSpPr>
            <a:spLocks noGrp="1"/>
          </p:cNvSpPr>
          <p:nvPr>
            <p:ph type="title"/>
          </p:nvPr>
        </p:nvSpPr>
        <p:spPr/>
        <p:txBody>
          <a:bodyPr/>
          <a:lstStyle/>
          <a:p>
            <a:r>
              <a:rPr lang="en-NP" dirty="0"/>
              <a:t>Logical View</a:t>
            </a:r>
          </a:p>
        </p:txBody>
      </p:sp>
      <p:sp>
        <p:nvSpPr>
          <p:cNvPr id="3" name="Content Placeholder 2">
            <a:extLst>
              <a:ext uri="{FF2B5EF4-FFF2-40B4-BE49-F238E27FC236}">
                <a16:creationId xmlns:a16="http://schemas.microsoft.com/office/drawing/2014/main" id="{AAF3B78A-E3AA-0433-77BC-7E4B84CAF7E5}"/>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The logical view is like a Google Map of your city’s roads. It shows how everything is connected and how data moves like the roads between homes, schools, and offices.</a:t>
            </a:r>
          </a:p>
          <a:p>
            <a:r>
              <a:rPr lang="en-US" dirty="0">
                <a:latin typeface="Times New Roman" panose="02020603050405020304" pitchFamily="18" charset="0"/>
                <a:cs typeface="Times New Roman" panose="02020603050405020304" pitchFamily="18" charset="0"/>
              </a:rPr>
              <a:t> In Packet Tracer, this is where you drag and drop devices like routers, switches, and PCs and connect them with cables. </a:t>
            </a:r>
          </a:p>
          <a:p>
            <a:r>
              <a:rPr lang="en-US" dirty="0">
                <a:latin typeface="Times New Roman" panose="02020603050405020304" pitchFamily="18" charset="0"/>
                <a:cs typeface="Times New Roman" panose="02020603050405020304" pitchFamily="18" charset="0"/>
              </a:rPr>
              <a:t>You assign IP addresses, configure routing, test pings  everything needed to make the network work.</a:t>
            </a:r>
            <a:endParaRPr lang="en-NP"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75718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FAD89-83E9-A869-8E23-9AB2927E8C21}"/>
              </a:ext>
            </a:extLst>
          </p:cNvPr>
          <p:cNvSpPr>
            <a:spLocks noGrp="1"/>
          </p:cNvSpPr>
          <p:nvPr>
            <p:ph type="title"/>
          </p:nvPr>
        </p:nvSpPr>
        <p:spPr/>
        <p:txBody>
          <a:bodyPr/>
          <a:lstStyle/>
          <a:p>
            <a:r>
              <a:rPr lang="en-NP" dirty="0"/>
              <a:t>Cisco Hardware we used</a:t>
            </a:r>
          </a:p>
        </p:txBody>
      </p:sp>
      <p:sp>
        <p:nvSpPr>
          <p:cNvPr id="3" name="Content Placeholder 2">
            <a:extLst>
              <a:ext uri="{FF2B5EF4-FFF2-40B4-BE49-F238E27FC236}">
                <a16:creationId xmlns:a16="http://schemas.microsoft.com/office/drawing/2014/main" id="{AD5880D8-8928-6C27-7204-16522329ADC5}"/>
              </a:ext>
            </a:extLst>
          </p:cNvPr>
          <p:cNvSpPr>
            <a:spLocks noGrp="1"/>
          </p:cNvSpPr>
          <p:nvPr>
            <p:ph idx="1"/>
          </p:nvPr>
        </p:nvSpPr>
        <p:spPr/>
        <p:txBody>
          <a:bodyPr/>
          <a:lstStyle/>
          <a:p>
            <a:r>
              <a:rPr lang="en-NP" dirty="0"/>
              <a:t>Workstation(6)</a:t>
            </a:r>
          </a:p>
          <a:p>
            <a:r>
              <a:rPr lang="en-NP" dirty="0"/>
              <a:t>Switch (2)</a:t>
            </a:r>
          </a:p>
          <a:p>
            <a:r>
              <a:rPr lang="en-NP" dirty="0"/>
              <a:t>Server (1)</a:t>
            </a:r>
          </a:p>
          <a:p>
            <a:r>
              <a:rPr lang="en-NP" dirty="0"/>
              <a:t>Copper straight-through cable.</a:t>
            </a:r>
          </a:p>
          <a:p>
            <a:endParaRPr lang="en-NP" dirty="0"/>
          </a:p>
        </p:txBody>
      </p:sp>
    </p:spTree>
    <p:extLst>
      <p:ext uri="{BB962C8B-B14F-4D97-AF65-F5344CB8AC3E}">
        <p14:creationId xmlns:p14="http://schemas.microsoft.com/office/powerpoint/2010/main" val="38454534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F5CCEB-E220-AA6D-FA68-D4C0D5D7DB7D}"/>
              </a:ext>
            </a:extLst>
          </p:cNvPr>
          <p:cNvSpPr>
            <a:spLocks noGrp="1"/>
          </p:cNvSpPr>
          <p:nvPr>
            <p:ph type="title"/>
          </p:nvPr>
        </p:nvSpPr>
        <p:spPr/>
        <p:txBody>
          <a:bodyPr/>
          <a:lstStyle/>
          <a:p>
            <a:r>
              <a:rPr lang="en-NP" dirty="0"/>
              <a:t>Workstation</a:t>
            </a:r>
          </a:p>
        </p:txBody>
      </p:sp>
      <p:sp>
        <p:nvSpPr>
          <p:cNvPr id="3" name="Content Placeholder 2">
            <a:extLst>
              <a:ext uri="{FF2B5EF4-FFF2-40B4-BE49-F238E27FC236}">
                <a16:creationId xmlns:a16="http://schemas.microsoft.com/office/drawing/2014/main" id="{A3DA6E0F-683B-600F-ACFA-B8575AF512F3}"/>
              </a:ext>
            </a:extLst>
          </p:cNvPr>
          <p:cNvSpPr>
            <a:spLocks noGrp="1"/>
          </p:cNvSpPr>
          <p:nvPr>
            <p:ph idx="1"/>
          </p:nvPr>
        </p:nvSpPr>
        <p:spPr/>
        <p:txBody>
          <a:bodyPr/>
          <a:lstStyle/>
          <a:p>
            <a:r>
              <a:rPr lang="en-US" dirty="0"/>
              <a:t>In Cisco Packet Tracer, a workstation refers to a user computer or end device typically a PC or laptop that is part of a network.</a:t>
            </a:r>
          </a:p>
          <a:p>
            <a:r>
              <a:rPr lang="en-US" dirty="0"/>
              <a:t>Found under End Devices.</a:t>
            </a:r>
          </a:p>
          <a:p>
            <a:r>
              <a:rPr lang="en-US" dirty="0"/>
              <a:t>We can assign IP address, Subnet mask, Default gateway, DNS server.</a:t>
            </a:r>
          </a:p>
          <a:p>
            <a:r>
              <a:rPr lang="en-US" dirty="0"/>
              <a:t>Equipped with a command prompt, web browser, email client, and terminal for simulation</a:t>
            </a:r>
          </a:p>
          <a:p>
            <a:r>
              <a:rPr lang="en-US" dirty="0"/>
              <a:t>Can send/receive pings, access web servers, or simulate file transfers (FTP)</a:t>
            </a:r>
          </a:p>
          <a:p>
            <a:pPr marL="0" indent="0">
              <a:buNone/>
            </a:pPr>
            <a:endParaRPr lang="en-NP" dirty="0"/>
          </a:p>
        </p:txBody>
      </p:sp>
    </p:spTree>
    <p:extLst>
      <p:ext uri="{BB962C8B-B14F-4D97-AF65-F5344CB8AC3E}">
        <p14:creationId xmlns:p14="http://schemas.microsoft.com/office/powerpoint/2010/main" val="20869601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2B7D9D-0BAF-4514-EFFB-69E835460098}"/>
              </a:ext>
            </a:extLst>
          </p:cNvPr>
          <p:cNvSpPr>
            <a:spLocks noGrp="1"/>
          </p:cNvSpPr>
          <p:nvPr>
            <p:ph type="title"/>
          </p:nvPr>
        </p:nvSpPr>
        <p:spPr/>
        <p:txBody>
          <a:bodyPr/>
          <a:lstStyle/>
          <a:p>
            <a:r>
              <a:rPr lang="en-NP" dirty="0"/>
              <a:t>Switch</a:t>
            </a:r>
          </a:p>
        </p:txBody>
      </p:sp>
      <p:sp>
        <p:nvSpPr>
          <p:cNvPr id="3" name="Content Placeholder 2">
            <a:extLst>
              <a:ext uri="{FF2B5EF4-FFF2-40B4-BE49-F238E27FC236}">
                <a16:creationId xmlns:a16="http://schemas.microsoft.com/office/drawing/2014/main" id="{8CA8DB1C-D1EA-AD28-1166-0A9867E6C58F}"/>
              </a:ext>
            </a:extLst>
          </p:cNvPr>
          <p:cNvSpPr>
            <a:spLocks noGrp="1"/>
          </p:cNvSpPr>
          <p:nvPr>
            <p:ph idx="1"/>
          </p:nvPr>
        </p:nvSpPr>
        <p:spPr/>
        <p:txBody>
          <a:bodyPr/>
          <a:lstStyle/>
          <a:p>
            <a:r>
              <a:rPr lang="en-US" dirty="0"/>
              <a:t>In Cisco Packet Tracer, a switch is a networking device that connects multiple devices (like PCs, printers, and servers) within the same Local Area Network (LAN) and allows them to communicate efficiently.</a:t>
            </a:r>
          </a:p>
          <a:p>
            <a:r>
              <a:rPr lang="en-US" dirty="0"/>
              <a:t>It receives data from one device and forwards it only to the destination device, not to all devices on the network.</a:t>
            </a:r>
          </a:p>
          <a:p>
            <a:r>
              <a:rPr lang="en-US" dirty="0"/>
              <a:t>It receives data from one device and forwards it only to the destination device, not to all devices on the network.</a:t>
            </a:r>
          </a:p>
          <a:p>
            <a:r>
              <a:rPr lang="en-US" dirty="0"/>
              <a:t>You can find switches under “Switches” in the device list.</a:t>
            </a:r>
          </a:p>
          <a:p>
            <a:r>
              <a:rPr lang="en-US" dirty="0"/>
              <a:t>Common examples: 2960, 3560, or generic switch.</a:t>
            </a:r>
          </a:p>
          <a:p>
            <a:endParaRPr lang="en-NP" dirty="0"/>
          </a:p>
        </p:txBody>
      </p:sp>
    </p:spTree>
    <p:extLst>
      <p:ext uri="{BB962C8B-B14F-4D97-AF65-F5344CB8AC3E}">
        <p14:creationId xmlns:p14="http://schemas.microsoft.com/office/powerpoint/2010/main" val="388814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05945-3C98-93B3-86AD-5E728D45DC81}"/>
              </a:ext>
            </a:extLst>
          </p:cNvPr>
          <p:cNvSpPr>
            <a:spLocks noGrp="1"/>
          </p:cNvSpPr>
          <p:nvPr>
            <p:ph type="title"/>
          </p:nvPr>
        </p:nvSpPr>
        <p:spPr/>
        <p:txBody>
          <a:bodyPr/>
          <a:lstStyle/>
          <a:p>
            <a:r>
              <a:rPr lang="en-NP" dirty="0"/>
              <a:t>Server</a:t>
            </a:r>
          </a:p>
        </p:txBody>
      </p:sp>
      <p:sp>
        <p:nvSpPr>
          <p:cNvPr id="3" name="Content Placeholder 2">
            <a:extLst>
              <a:ext uri="{FF2B5EF4-FFF2-40B4-BE49-F238E27FC236}">
                <a16:creationId xmlns:a16="http://schemas.microsoft.com/office/drawing/2014/main" id="{CD8F8E68-90E0-324E-B606-430FF2490895}"/>
              </a:ext>
            </a:extLst>
          </p:cNvPr>
          <p:cNvSpPr>
            <a:spLocks noGrp="1"/>
          </p:cNvSpPr>
          <p:nvPr>
            <p:ph idx="1"/>
          </p:nvPr>
        </p:nvSpPr>
        <p:spPr/>
        <p:txBody>
          <a:bodyPr/>
          <a:lstStyle/>
          <a:p>
            <a:r>
              <a:rPr lang="en-US" dirty="0"/>
              <a:t>A server is like a digital helper in a network.</a:t>
            </a:r>
          </a:p>
          <a:p>
            <a:r>
              <a:rPr lang="en-US" dirty="0"/>
              <a:t>It is a device that provides services or resources to other devices on the network, like PCs or workstations. </a:t>
            </a:r>
          </a:p>
          <a:p>
            <a:r>
              <a:rPr lang="en-US" dirty="0"/>
              <a:t>Servers respond to client requests, enabling access to things like websites, files, emails, and more.</a:t>
            </a:r>
          </a:p>
          <a:p>
            <a:r>
              <a:rPr lang="en-US" dirty="0"/>
              <a:t>Servers are located under End Devices -&gt; Server.</a:t>
            </a:r>
            <a:endParaRPr lang="en-NP" dirty="0"/>
          </a:p>
          <a:p>
            <a:pPr marL="0" indent="0">
              <a:buNone/>
            </a:pPr>
            <a:endParaRPr lang="en-US" dirty="0"/>
          </a:p>
        </p:txBody>
      </p:sp>
    </p:spTree>
    <p:extLst>
      <p:ext uri="{BB962C8B-B14F-4D97-AF65-F5344CB8AC3E}">
        <p14:creationId xmlns:p14="http://schemas.microsoft.com/office/powerpoint/2010/main" val="420334865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BE5F9-4E77-E3F6-C883-E9EFA4625501}"/>
              </a:ext>
            </a:extLst>
          </p:cNvPr>
          <p:cNvSpPr>
            <a:spLocks noGrp="1"/>
          </p:cNvSpPr>
          <p:nvPr>
            <p:ph type="title"/>
          </p:nvPr>
        </p:nvSpPr>
        <p:spPr/>
        <p:txBody>
          <a:bodyPr/>
          <a:lstStyle/>
          <a:p>
            <a:r>
              <a:rPr lang="en-NP" dirty="0"/>
              <a:t>Copper Straight Cable</a:t>
            </a:r>
          </a:p>
        </p:txBody>
      </p:sp>
      <p:sp>
        <p:nvSpPr>
          <p:cNvPr id="3" name="Content Placeholder 2">
            <a:extLst>
              <a:ext uri="{FF2B5EF4-FFF2-40B4-BE49-F238E27FC236}">
                <a16:creationId xmlns:a16="http://schemas.microsoft.com/office/drawing/2014/main" id="{DA559AC2-4A9E-482F-AC3D-A995211E572C}"/>
              </a:ext>
            </a:extLst>
          </p:cNvPr>
          <p:cNvSpPr>
            <a:spLocks noGrp="1"/>
          </p:cNvSpPr>
          <p:nvPr>
            <p:ph idx="1"/>
          </p:nvPr>
        </p:nvSpPr>
        <p:spPr/>
        <p:txBody>
          <a:bodyPr/>
          <a:lstStyle/>
          <a:p>
            <a:r>
              <a:rPr lang="en-US" dirty="0"/>
              <a:t>A Copper Straight-Through Cable is the most common type of Ethernet cable used in networking.</a:t>
            </a:r>
          </a:p>
          <a:p>
            <a:r>
              <a:rPr lang="en-US" dirty="0"/>
              <a:t> It connects different types of devices, like a PC to a switch or a router to a switch, using copper wires inside.</a:t>
            </a:r>
          </a:p>
          <a:p>
            <a:r>
              <a:rPr lang="en-NP" dirty="0"/>
              <a:t>Lightning bolt icon has the cables where copper straight cable can be found.</a:t>
            </a:r>
          </a:p>
        </p:txBody>
      </p:sp>
    </p:spTree>
    <p:extLst>
      <p:ext uri="{BB962C8B-B14F-4D97-AF65-F5344CB8AC3E}">
        <p14:creationId xmlns:p14="http://schemas.microsoft.com/office/powerpoint/2010/main" val="34378915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F1FA87-C62A-D948-C0A3-EBCDBBEDBCA9}"/>
              </a:ext>
            </a:extLst>
          </p:cNvPr>
          <p:cNvSpPr>
            <a:spLocks noGrp="1"/>
          </p:cNvSpPr>
          <p:nvPr>
            <p:ph type="title"/>
          </p:nvPr>
        </p:nvSpPr>
        <p:spPr/>
        <p:txBody>
          <a:bodyPr/>
          <a:lstStyle/>
          <a:p>
            <a:r>
              <a:rPr lang="en-NP" dirty="0"/>
              <a:t>Problem Faced</a:t>
            </a:r>
          </a:p>
        </p:txBody>
      </p:sp>
      <p:sp>
        <p:nvSpPr>
          <p:cNvPr id="3" name="Content Placeholder 2">
            <a:extLst>
              <a:ext uri="{FF2B5EF4-FFF2-40B4-BE49-F238E27FC236}">
                <a16:creationId xmlns:a16="http://schemas.microsoft.com/office/drawing/2014/main" id="{DB2E5F22-645D-D62C-B148-990CE9031E5A}"/>
              </a:ext>
            </a:extLst>
          </p:cNvPr>
          <p:cNvSpPr>
            <a:spLocks noGrp="1"/>
          </p:cNvSpPr>
          <p:nvPr>
            <p:ph idx="1"/>
          </p:nvPr>
        </p:nvSpPr>
        <p:spPr/>
        <p:txBody>
          <a:bodyPr>
            <a:normAutofit/>
          </a:bodyPr>
          <a:lstStyle/>
          <a:p>
            <a:r>
              <a:rPr lang="en-NP" dirty="0"/>
              <a:t>At first understanding the interface, all the icons </a:t>
            </a:r>
          </a:p>
          <a:p>
            <a:r>
              <a:rPr lang="en-NP" dirty="0"/>
              <a:t>Wrong cable connection to similar device as we use copper cross over cable instead of copper straight through.</a:t>
            </a:r>
          </a:p>
          <a:p>
            <a:r>
              <a:rPr lang="en-US" dirty="0"/>
              <a:t>We encountered an issue while attempting to ping from PC0 to PC5. </a:t>
            </a:r>
          </a:p>
          <a:p>
            <a:endParaRPr lang="en-NP" dirty="0"/>
          </a:p>
          <a:p>
            <a:endParaRPr lang="en-NP" dirty="0"/>
          </a:p>
          <a:p>
            <a:endParaRPr lang="en-NP" dirty="0"/>
          </a:p>
        </p:txBody>
      </p:sp>
    </p:spTree>
    <p:extLst>
      <p:ext uri="{BB962C8B-B14F-4D97-AF65-F5344CB8AC3E}">
        <p14:creationId xmlns:p14="http://schemas.microsoft.com/office/powerpoint/2010/main" val="3632543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2D76A9-8F55-9A71-08FF-E69FC065185D}"/>
              </a:ext>
            </a:extLst>
          </p:cNvPr>
          <p:cNvSpPr>
            <a:spLocks noGrp="1"/>
          </p:cNvSpPr>
          <p:nvPr>
            <p:ph type="title"/>
          </p:nvPr>
        </p:nvSpPr>
        <p:spPr/>
        <p:txBody>
          <a:bodyPr/>
          <a:lstStyle/>
          <a:p>
            <a:r>
              <a:rPr lang="en-NP" dirty="0"/>
              <a:t>How we overcome ?</a:t>
            </a:r>
          </a:p>
        </p:txBody>
      </p:sp>
      <p:sp>
        <p:nvSpPr>
          <p:cNvPr id="3" name="Content Placeholder 2">
            <a:extLst>
              <a:ext uri="{FF2B5EF4-FFF2-40B4-BE49-F238E27FC236}">
                <a16:creationId xmlns:a16="http://schemas.microsoft.com/office/drawing/2014/main" id="{D0477438-5565-6714-2CB5-D9FB0FA8CA3C}"/>
              </a:ext>
            </a:extLst>
          </p:cNvPr>
          <p:cNvSpPr>
            <a:spLocks noGrp="1"/>
          </p:cNvSpPr>
          <p:nvPr>
            <p:ph idx="1"/>
          </p:nvPr>
        </p:nvSpPr>
        <p:spPr/>
        <p:txBody>
          <a:bodyPr/>
          <a:lstStyle/>
          <a:p>
            <a:r>
              <a:rPr lang="en-NP" dirty="0"/>
              <a:t>Youtube video about the basics understanding of cisco packet tracer helped us to know about the interface and all those icons and their functionality.</a:t>
            </a:r>
          </a:p>
          <a:p>
            <a:r>
              <a:rPr lang="en-US" dirty="0"/>
              <a:t>W</a:t>
            </a:r>
            <a:r>
              <a:rPr lang="en-NP" dirty="0"/>
              <a:t>e figured out we need copper straight through as copper cross over is only used when to connect similar devices.</a:t>
            </a:r>
          </a:p>
          <a:p>
            <a:r>
              <a:rPr lang="en-NP" dirty="0"/>
              <a:t>We came to know </a:t>
            </a:r>
            <a:r>
              <a:rPr lang="en-US" dirty="0"/>
              <a:t>Although all the PCs were configured with the same IP address settings, they are connected through a router, which requires devices on different sides to belong to separate networks or subnets.</a:t>
            </a:r>
            <a:endParaRPr lang="en-NP" dirty="0"/>
          </a:p>
          <a:p>
            <a:endParaRPr lang="en-NP" dirty="0"/>
          </a:p>
        </p:txBody>
      </p:sp>
    </p:spTree>
    <p:extLst>
      <p:ext uri="{BB962C8B-B14F-4D97-AF65-F5344CB8AC3E}">
        <p14:creationId xmlns:p14="http://schemas.microsoft.com/office/powerpoint/2010/main" val="763466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6B8BED-ED29-DB67-57A5-2930D059D214}"/>
              </a:ext>
            </a:extLst>
          </p:cNvPr>
          <p:cNvSpPr>
            <a:spLocks noGrp="1"/>
          </p:cNvSpPr>
          <p:nvPr>
            <p:ph type="title"/>
          </p:nvPr>
        </p:nvSpPr>
        <p:spPr/>
        <p:txBody>
          <a:bodyPr/>
          <a:lstStyle/>
          <a:p>
            <a:r>
              <a:rPr lang="en-NP" dirty="0"/>
              <a:t>Network Topology</a:t>
            </a:r>
          </a:p>
        </p:txBody>
      </p:sp>
      <p:pic>
        <p:nvPicPr>
          <p:cNvPr id="5" name="Content Placeholder 4">
            <a:extLst>
              <a:ext uri="{FF2B5EF4-FFF2-40B4-BE49-F238E27FC236}">
                <a16:creationId xmlns:a16="http://schemas.microsoft.com/office/drawing/2014/main" id="{FEA19BF2-0F6A-819B-974E-5AF50ADBABF6}"/>
              </a:ext>
            </a:extLst>
          </p:cNvPr>
          <p:cNvPicPr>
            <a:picLocks noGrp="1" noChangeAspect="1"/>
          </p:cNvPicPr>
          <p:nvPr>
            <p:ph idx="1"/>
          </p:nvPr>
        </p:nvPicPr>
        <p:blipFill>
          <a:blip r:embed="rId2"/>
          <a:stretch>
            <a:fillRect/>
          </a:stretch>
        </p:blipFill>
        <p:spPr>
          <a:xfrm>
            <a:off x="1107256" y="1690688"/>
            <a:ext cx="6792500" cy="4351338"/>
          </a:xfrm>
        </p:spPr>
      </p:pic>
    </p:spTree>
    <p:extLst>
      <p:ext uri="{BB962C8B-B14F-4D97-AF65-F5344CB8AC3E}">
        <p14:creationId xmlns:p14="http://schemas.microsoft.com/office/powerpoint/2010/main" val="366555474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C4DE95-C174-A418-DB05-8448BE2416E3}"/>
              </a:ext>
            </a:extLst>
          </p:cNvPr>
          <p:cNvSpPr>
            <a:spLocks noGrp="1"/>
          </p:cNvSpPr>
          <p:nvPr>
            <p:ph type="title"/>
          </p:nvPr>
        </p:nvSpPr>
        <p:spPr/>
        <p:txBody>
          <a:bodyPr/>
          <a:lstStyle/>
          <a:p>
            <a:r>
              <a:rPr lang="en-NP" dirty="0"/>
              <a:t>Network Topology</a:t>
            </a:r>
          </a:p>
        </p:txBody>
      </p:sp>
      <p:sp>
        <p:nvSpPr>
          <p:cNvPr id="3" name="Content Placeholder 2">
            <a:extLst>
              <a:ext uri="{FF2B5EF4-FFF2-40B4-BE49-F238E27FC236}">
                <a16:creationId xmlns:a16="http://schemas.microsoft.com/office/drawing/2014/main" id="{4A27C7BB-E663-2433-4298-320D93613E40}"/>
              </a:ext>
            </a:extLst>
          </p:cNvPr>
          <p:cNvSpPr>
            <a:spLocks noGrp="1"/>
          </p:cNvSpPr>
          <p:nvPr>
            <p:ph idx="1"/>
          </p:nvPr>
        </p:nvSpPr>
        <p:spPr>
          <a:xfrm>
            <a:off x="838200" y="1825625"/>
            <a:ext cx="10515600" cy="4667250"/>
          </a:xfrm>
        </p:spPr>
        <p:txBody>
          <a:bodyPr>
            <a:normAutofit/>
          </a:bodyPr>
          <a:lstStyle/>
          <a:p>
            <a:r>
              <a:rPr lang="en-US" dirty="0"/>
              <a:t>It is a  Hybrid Topology, more specifically a combination of Star and Hierarchical</a:t>
            </a:r>
          </a:p>
          <a:p>
            <a:r>
              <a:rPr lang="en-US" dirty="0"/>
              <a:t>Each switch acts as the central device in a star layout, As star topology:</a:t>
            </a:r>
          </a:p>
          <a:p>
            <a:pPr lvl="1"/>
            <a:r>
              <a:rPr lang="en-US" dirty="0"/>
              <a:t>On the left, PCs and a server connect to Switch0.</a:t>
            </a:r>
          </a:p>
          <a:p>
            <a:pPr lvl="1"/>
            <a:r>
              <a:rPr lang="en-US" dirty="0"/>
              <a:t>On the right, PCs connect to Switch1</a:t>
            </a:r>
          </a:p>
          <a:p>
            <a:r>
              <a:rPr lang="en-NP" dirty="0"/>
              <a:t>As Hierarchical</a:t>
            </a:r>
          </a:p>
          <a:p>
            <a:pPr lvl="1"/>
            <a:r>
              <a:rPr lang="en-US" dirty="0"/>
              <a:t>Switch0 and Switch1 are connected to Router0, which connects both LAN segments.</a:t>
            </a:r>
          </a:p>
          <a:p>
            <a:pPr lvl="1"/>
            <a:r>
              <a:rPr lang="en-US" dirty="0"/>
              <a:t>This forms a structure where multiple star networks are connected through a central router.</a:t>
            </a:r>
          </a:p>
          <a:p>
            <a:pPr lvl="1"/>
            <a:endParaRPr lang="en-NP" dirty="0"/>
          </a:p>
        </p:txBody>
      </p:sp>
    </p:spTree>
    <p:extLst>
      <p:ext uri="{BB962C8B-B14F-4D97-AF65-F5344CB8AC3E}">
        <p14:creationId xmlns:p14="http://schemas.microsoft.com/office/powerpoint/2010/main" val="10712778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2583B-3DE7-1B9E-A56C-865DE7177DFF}"/>
              </a:ext>
            </a:extLst>
          </p:cNvPr>
          <p:cNvSpPr>
            <a:spLocks noGrp="1"/>
          </p:cNvSpPr>
          <p:nvPr>
            <p:ph type="title"/>
          </p:nvPr>
        </p:nvSpPr>
        <p:spPr/>
        <p:txBody>
          <a:bodyPr/>
          <a:lstStyle/>
          <a:p>
            <a:r>
              <a:rPr lang="en-NP" dirty="0"/>
              <a:t>Conclusion</a:t>
            </a:r>
          </a:p>
        </p:txBody>
      </p:sp>
      <p:sp>
        <p:nvSpPr>
          <p:cNvPr id="3" name="Content Placeholder 2">
            <a:extLst>
              <a:ext uri="{FF2B5EF4-FFF2-40B4-BE49-F238E27FC236}">
                <a16:creationId xmlns:a16="http://schemas.microsoft.com/office/drawing/2014/main" id="{E8734B9C-6461-7145-AC9D-042E5964A6B8}"/>
              </a:ext>
            </a:extLst>
          </p:cNvPr>
          <p:cNvSpPr>
            <a:spLocks noGrp="1"/>
          </p:cNvSpPr>
          <p:nvPr>
            <p:ph idx="1"/>
          </p:nvPr>
        </p:nvSpPr>
        <p:spPr/>
        <p:txBody>
          <a:bodyPr/>
          <a:lstStyle/>
          <a:p>
            <a:r>
              <a:rPr lang="en-US" dirty="0"/>
              <a:t>In conclusion, this network topology demonstrates a well-structured hybrid network, combining star and hierarchical designs to efficiently connect multiple PCs, a server, and switches through a central router and also  offers a balanced approach to performance, manageability, and future growth, making it ideal for small to medium-sized enterprise networks.</a:t>
            </a:r>
          </a:p>
          <a:p>
            <a:pPr marL="0" indent="0">
              <a:buNone/>
            </a:pPr>
            <a:endParaRPr lang="en-US" dirty="0"/>
          </a:p>
          <a:p>
            <a:pPr marL="0" indent="0">
              <a:buNone/>
            </a:pPr>
            <a:endParaRPr lang="en-NP" dirty="0"/>
          </a:p>
        </p:txBody>
      </p:sp>
    </p:spTree>
    <p:extLst>
      <p:ext uri="{BB962C8B-B14F-4D97-AF65-F5344CB8AC3E}">
        <p14:creationId xmlns:p14="http://schemas.microsoft.com/office/powerpoint/2010/main" val="251672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E5E80F-02DB-D2CE-FA80-1F302E479E97}"/>
              </a:ext>
            </a:extLst>
          </p:cNvPr>
          <p:cNvSpPr>
            <a:spLocks noGrp="1"/>
          </p:cNvSpPr>
          <p:nvPr>
            <p:ph type="title"/>
          </p:nvPr>
        </p:nvSpPr>
        <p:spPr/>
        <p:txBody>
          <a:bodyPr/>
          <a:lstStyle/>
          <a:p>
            <a:r>
              <a:rPr lang="en-NP" dirty="0"/>
              <a:t>Simulation..</a:t>
            </a:r>
          </a:p>
        </p:txBody>
      </p:sp>
      <p:sp>
        <p:nvSpPr>
          <p:cNvPr id="3" name="Content Placeholder 2">
            <a:extLst>
              <a:ext uri="{FF2B5EF4-FFF2-40B4-BE49-F238E27FC236}">
                <a16:creationId xmlns:a16="http://schemas.microsoft.com/office/drawing/2014/main" id="{7C9F96C0-7307-8CE3-F338-9A33714D4BBC}"/>
              </a:ext>
            </a:extLst>
          </p:cNvPr>
          <p:cNvSpPr>
            <a:spLocks noGrp="1"/>
          </p:cNvSpPr>
          <p:nvPr>
            <p:ph idx="1"/>
          </p:nvPr>
        </p:nvSpPr>
        <p:spPr/>
        <p:txBody>
          <a:bodyPr/>
          <a:lstStyle/>
          <a:p>
            <a:endParaRPr lang="en-NP" dirty="0"/>
          </a:p>
        </p:txBody>
      </p:sp>
    </p:spTree>
    <p:extLst>
      <p:ext uri="{BB962C8B-B14F-4D97-AF65-F5344CB8AC3E}">
        <p14:creationId xmlns:p14="http://schemas.microsoft.com/office/powerpoint/2010/main" val="37968295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3076</TotalTime>
  <Words>983</Words>
  <Application>Microsoft Macintosh PowerPoint</Application>
  <PresentationFormat>Widescreen</PresentationFormat>
  <Paragraphs>63</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Arial</vt:lpstr>
      <vt:lpstr>Calibri</vt:lpstr>
      <vt:lpstr>Calibri Light</vt:lpstr>
      <vt:lpstr>Times New Roman</vt:lpstr>
      <vt:lpstr>Office Theme</vt:lpstr>
      <vt:lpstr>Bay Atlantic University Computer Network &amp; Mobile Communication CMPS 524 Group Project - Cisco Packet Tracer  6/13/2025  Group Members Gaurav Pandey Rajesh Singh Abubakarr Kargbo Brayan Parra Maca Prince Adjei Prabhjyot Kaur </vt:lpstr>
      <vt:lpstr>Introduction</vt:lpstr>
      <vt:lpstr>PowerPoint Presentation</vt:lpstr>
      <vt:lpstr>Physcial view</vt:lpstr>
      <vt:lpstr>Logical View</vt:lpstr>
      <vt:lpstr>Cisco Hardware we used</vt:lpstr>
      <vt:lpstr>Workstation</vt:lpstr>
      <vt:lpstr>Switch</vt:lpstr>
      <vt:lpstr>Server</vt:lpstr>
      <vt:lpstr>Copper Straight Cable</vt:lpstr>
      <vt:lpstr>Problem Faced</vt:lpstr>
      <vt:lpstr>How we overcome ?</vt:lpstr>
      <vt:lpstr>Network Topology</vt:lpstr>
      <vt:lpstr>Network Topology</vt:lpstr>
      <vt:lpstr>Conclusion</vt:lpstr>
      <vt:lpstr>Simulation..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Prince Adjei</cp:lastModifiedBy>
  <cp:revision>8</cp:revision>
  <dcterms:created xsi:type="dcterms:W3CDTF">2025-06-09T22:47:39Z</dcterms:created>
  <dcterms:modified xsi:type="dcterms:W3CDTF">2025-06-15T23:27:03Z</dcterms:modified>
</cp:coreProperties>
</file>